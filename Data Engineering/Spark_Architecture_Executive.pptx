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45720" cy="5143500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 PROCESSING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Spark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Internals — End to 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1572768" cy="621792"/>
          </a:xfrm>
          <a:prstGeom prst="rect">
            <a:avLst/>
          </a:prstGeom>
          <a:solidFill>
            <a:srgbClr val="13233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60520"/>
            <a:ext cx="157276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49424" y="4160520"/>
            <a:ext cx="1572768" cy="621792"/>
          </a:xfrm>
          <a:prstGeom prst="rect">
            <a:avLst/>
          </a:prstGeom>
          <a:solidFill>
            <a:srgbClr val="13233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9424" y="4160520"/>
            <a:ext cx="157276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&amp; Executors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50208" y="4160520"/>
            <a:ext cx="1572768" cy="621792"/>
          </a:xfrm>
          <a:prstGeom prst="rect">
            <a:avLst/>
          </a:prstGeom>
          <a:solidFill>
            <a:srgbClr val="13233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0208" y="4160520"/>
            <a:ext cx="157276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Execution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50992" y="4160520"/>
            <a:ext cx="1572768" cy="621792"/>
          </a:xfrm>
          <a:prstGeom prst="rect">
            <a:avLst/>
          </a:prstGeom>
          <a:solidFill>
            <a:srgbClr val="13233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4160520"/>
            <a:ext cx="157276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51776" y="4160520"/>
            <a:ext cx="1572768" cy="621792"/>
          </a:xfrm>
          <a:prstGeom prst="rect">
            <a:avLst/>
          </a:prstGeom>
          <a:solidFill>
            <a:srgbClr val="13233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1776" y="4160520"/>
            <a:ext cx="157276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Architecture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463600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088636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Apache Spark?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97280"/>
            <a:ext cx="4069080" cy="352044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188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Distributed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Computing Engine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processes massive datasets across clusters using in-memory computation, making it 100× faster than disk-based systems like Hadoop MapReduce.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063240"/>
            <a:ext cx="109728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0358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data processing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355848"/>
            <a:ext cx="109728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3284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109728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6210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941064"/>
            <a:ext cx="109728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9136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workloads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233672"/>
            <a:ext cx="109728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206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1097280"/>
            <a:ext cx="1965960" cy="1051560"/>
          </a:xfrm>
          <a:prstGeom prst="rect">
            <a:avLst/>
          </a:prstGeom>
          <a:solidFill>
            <a:srgbClr val="1C335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09728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2618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In-Memory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09160" y="16642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1097280"/>
            <a:ext cx="1965960" cy="1051560"/>
          </a:xfrm>
          <a:prstGeom prst="rect">
            <a:avLst/>
          </a:prstGeom>
          <a:solidFill>
            <a:srgbClr val="1C335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09728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12618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58000" y="16642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286000"/>
            <a:ext cx="1965960" cy="1051560"/>
          </a:xfrm>
          <a:prstGeom prst="rect">
            <a:avLst/>
          </a:prstGeom>
          <a:solidFill>
            <a:srgbClr val="1C335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28600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4505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Fault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09160" y="28529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2286000"/>
            <a:ext cx="1965960" cy="1051560"/>
          </a:xfrm>
          <a:prstGeom prst="rect">
            <a:avLst/>
          </a:prstGeom>
          <a:solidFill>
            <a:srgbClr val="1C335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228600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24505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DAG-Based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58000" y="28529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3474720"/>
            <a:ext cx="1965960" cy="1051560"/>
          </a:xfrm>
          <a:prstGeom prst="rect">
            <a:avLst/>
          </a:prstGeom>
          <a:solidFill>
            <a:srgbClr val="1C335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47472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6393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Multi-Language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709160" y="40416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3474720"/>
            <a:ext cx="1965960" cy="1051560"/>
          </a:xfrm>
          <a:prstGeom prst="rect">
            <a:avLst/>
          </a:prstGeom>
          <a:solidFill>
            <a:srgbClr val="1C335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58000" y="347472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36393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858000" y="40416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463600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088636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Spark?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97280"/>
            <a:ext cx="3931920" cy="3566160"/>
          </a:xfrm>
          <a:prstGeom prst="rect">
            <a:avLst/>
          </a:prstGeom>
          <a:solidFill>
            <a:srgbClr val="1A0A0A"/>
          </a:solidFill>
          <a:ln w="12700">
            <a:solidFill>
              <a:srgbClr val="8B3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097280"/>
            <a:ext cx="3931920" cy="64008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070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Challenges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17647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17830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disk-based computation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27685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6112" y="22951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latency read / write cycles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7889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" y="28072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iterative processing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30098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" y="33192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horizontal scalability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8130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6112" y="383133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in-memory caching layer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097280"/>
            <a:ext cx="4069080" cy="3566160"/>
          </a:xfrm>
          <a:prstGeom prst="rect">
            <a:avLst/>
          </a:prstGeom>
          <a:solidFill>
            <a:srgbClr val="071A10"/>
          </a:solidFill>
          <a:ln w="12700">
            <a:solidFill>
              <a:srgbClr val="2A6B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97280"/>
            <a:ext cx="4069080" cy="64008"/>
          </a:xfrm>
          <a:prstGeom prst="rect">
            <a:avLst/>
          </a:prstGeom>
          <a:solidFill>
            <a:srgbClr val="2A6B3C"/>
          </a:solidFill>
          <a:ln w="12700">
            <a:solidFill>
              <a:srgbClr val="2A6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207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CB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Spark Advantages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73168" y="176479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20640" y="17830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computation using RAM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73168" y="2276856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20640" y="22951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task execution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73168" y="278892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20640" y="28072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query via Catalyst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73168" y="3300984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20640" y="3319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distributed architecture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73168" y="3813048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120640" y="38313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 engine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463600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088636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High-Level Architecture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097280"/>
            <a:ext cx="2194560" cy="658368"/>
          </a:xfrm>
          <a:prstGeom prst="rect">
            <a:avLst/>
          </a:prstGeom>
          <a:solidFill>
            <a:srgbClr val="1C3352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1521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Application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74720" y="1463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PySpark / Scala / Java / 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2084832"/>
            <a:ext cx="2743200" cy="658368"/>
          </a:xfrm>
          <a:prstGeom prst="rect">
            <a:avLst/>
          </a:prstGeom>
          <a:solidFill>
            <a:srgbClr val="1C2E4A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21396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Driver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00400" y="2450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DAG Scheduler · Task Scheduler · Catalyst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2980944"/>
            <a:ext cx="2743200" cy="658368"/>
          </a:xfrm>
          <a:prstGeom prst="rect">
            <a:avLst/>
          </a:prstGeom>
          <a:solidFill>
            <a:srgbClr val="1C3040"/>
          </a:solidFill>
          <a:ln w="19050">
            <a:solidFill>
              <a:srgbClr val="7B9AB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00400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YARN / Kubernetes / Standalone / Mesos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53712" y="1783080"/>
            <a:ext cx="36576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3712" y="2761488"/>
            <a:ext cx="36576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58768"/>
            <a:ext cx="2560320" cy="914400"/>
          </a:xfrm>
          <a:prstGeom prst="rect">
            <a:avLst/>
          </a:prstGeom>
          <a:solidFill>
            <a:srgbClr val="1C3352"/>
          </a:solidFill>
          <a:ln w="12700">
            <a:solidFill>
              <a:srgbClr val="7B9AB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9044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 ·  Cache  ·  Results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3858768"/>
            <a:ext cx="2560320" cy="914400"/>
          </a:xfrm>
          <a:prstGeom prst="rect">
            <a:avLst/>
          </a:prstGeom>
          <a:solidFill>
            <a:srgbClr val="1A2E50"/>
          </a:solidFill>
          <a:ln w="12700">
            <a:solidFill>
              <a:srgbClr val="7B9AB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91840" y="39044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 ·  Cache  ·  Results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3858768"/>
            <a:ext cx="2560320" cy="914400"/>
          </a:xfrm>
          <a:prstGeom prst="rect">
            <a:avLst/>
          </a:prstGeom>
          <a:solidFill>
            <a:srgbClr val="16283E"/>
          </a:solidFill>
          <a:ln w="12700">
            <a:solidFill>
              <a:srgbClr val="7B9AB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39044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 ·  Cache  ·  Results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53712" y="3639312"/>
            <a:ext cx="36576" cy="109728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19072" y="3730752"/>
            <a:ext cx="5705856" cy="36576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19072" y="3749040"/>
            <a:ext cx="36576" cy="109728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53712" y="3749040"/>
            <a:ext cx="36576" cy="109728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88352" y="3749040"/>
            <a:ext cx="36576" cy="109728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463600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088636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Program — Central Controller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789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Program is the brain of any Spark application. It converts user code into a full execution plan and orchestrates every task across the cluster.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2606040" cy="960120"/>
          </a:xfrm>
          <a:prstGeom prst="rect">
            <a:avLst/>
          </a:prstGeom>
          <a:solidFill>
            <a:srgbClr val="132338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737360"/>
            <a:ext cx="50292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" y="22402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&amp; context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27832" y="1737360"/>
            <a:ext cx="2606040" cy="960120"/>
          </a:xfrm>
          <a:prstGeom prst="rect">
            <a:avLst/>
          </a:prstGeom>
          <a:solidFill>
            <a:srgbClr val="132338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737360"/>
            <a:ext cx="50292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2424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Plan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92424" y="22402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code to plan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44184" y="1737360"/>
            <a:ext cx="2606040" cy="960120"/>
          </a:xfrm>
          <a:prstGeom prst="rect">
            <a:avLst/>
          </a:prstGeom>
          <a:solidFill>
            <a:srgbClr val="132338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44184" y="1737360"/>
            <a:ext cx="50292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Builder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08776" y="22402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Acyclic Graph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2852928"/>
            <a:ext cx="2606040" cy="960120"/>
          </a:xfrm>
          <a:prstGeom prst="rect">
            <a:avLst/>
          </a:prstGeom>
          <a:solidFill>
            <a:srgbClr val="132338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852928"/>
            <a:ext cx="50292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9443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6072" y="33558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tasks to executors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27832" y="2852928"/>
            <a:ext cx="2606040" cy="960120"/>
          </a:xfrm>
          <a:prstGeom prst="rect">
            <a:avLst/>
          </a:prstGeom>
          <a:solidFill>
            <a:srgbClr val="132338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27832" y="2852928"/>
            <a:ext cx="50292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29443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92424" y="33558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executor lifecycle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44184" y="2852928"/>
            <a:ext cx="2606040" cy="960120"/>
          </a:xfrm>
          <a:prstGeom prst="rect">
            <a:avLst/>
          </a:prstGeom>
          <a:solidFill>
            <a:srgbClr val="132338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4184" y="2852928"/>
            <a:ext cx="50292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29443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Collect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08776" y="335584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final output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11480" y="4041648"/>
            <a:ext cx="8321040" cy="868680"/>
          </a:xfrm>
          <a:prstGeom prst="rect">
            <a:avLst/>
          </a:prstGeom>
          <a:solidFill>
            <a:srgbClr val="162844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78224"/>
          <a:ext cx="8229600" cy="749808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 Scheduler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Scheduler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Catalyst Optimizer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 to Spark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execution stages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Assigns tasks to executors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C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Optimizes query execution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463600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088636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Manager — Resource Orchestrator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Responsibilities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3886200" cy="713232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572768"/>
            <a:ext cx="4572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459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CPU &amp; RAM to applications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441448"/>
            <a:ext cx="3886200" cy="713232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441448"/>
            <a:ext cx="4572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146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executor processes on workers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310128"/>
            <a:ext cx="3886200" cy="713232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310128"/>
            <a:ext cx="4572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832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overall cluster resources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78808"/>
            <a:ext cx="3886200" cy="713232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4178808"/>
            <a:ext cx="4572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51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resource utilization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1097280"/>
            <a:ext cx="4114800" cy="822960"/>
          </a:xfrm>
          <a:prstGeom prst="rect">
            <a:avLst/>
          </a:prstGeom>
          <a:solidFill>
            <a:srgbClr val="132338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73168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73168" y="1536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Spark's native built-in cluster manager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17720" y="2066544"/>
            <a:ext cx="4114800" cy="822960"/>
          </a:xfrm>
          <a:prstGeom prst="rect">
            <a:avLst/>
          </a:prstGeom>
          <a:solidFill>
            <a:srgbClr val="132338"/>
          </a:solidFill>
          <a:ln w="19050">
            <a:solidFill>
              <a:srgbClr val="5BA4C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73168" y="21396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73168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ecosystem resource manager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17720" y="3035808"/>
            <a:ext cx="4114800" cy="822960"/>
          </a:xfrm>
          <a:prstGeom prst="rect">
            <a:avLst/>
          </a:prstGeom>
          <a:solidFill>
            <a:srgbClr val="132338"/>
          </a:solidFill>
          <a:ln w="19050">
            <a:solidFill>
              <a:srgbClr val="6DB33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73168" y="3108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73168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platform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17720" y="4005072"/>
            <a:ext cx="4114800" cy="822960"/>
          </a:xfrm>
          <a:prstGeom prst="rect">
            <a:avLst/>
          </a:prstGeom>
          <a:solidFill>
            <a:srgbClr val="132338"/>
          </a:solidFill>
          <a:ln w="19050">
            <a:solidFill>
              <a:srgbClr val="B87F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73168" y="40782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Mesos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73168" y="4443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distributed resource manager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463600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088636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 Nodes &amp; Executors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97280"/>
            <a:ext cx="4069080" cy="3611880"/>
          </a:xfrm>
          <a:prstGeom prst="rect">
            <a:avLst/>
          </a:prstGeom>
          <a:solidFill>
            <a:srgbClr val="132338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097280"/>
            <a:ext cx="40690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070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 Node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17190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machines providing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resources to the cluster.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395728"/>
            <a:ext cx="73152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CPU cores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2779776"/>
            <a:ext cx="73152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761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memory (RAM)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3163824"/>
            <a:ext cx="73152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145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distributed tasks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3547872"/>
            <a:ext cx="73152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529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cached partitions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4041648"/>
            <a:ext cx="38404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One worker node can host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executors simultaneously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1097280"/>
            <a:ext cx="4069080" cy="3611880"/>
          </a:xfrm>
          <a:prstGeom prst="rect">
            <a:avLst/>
          </a:prstGeom>
          <a:solidFill>
            <a:srgbClr val="0E1E35"/>
          </a:solidFill>
          <a:ln w="12700">
            <a:solidFill>
              <a:srgbClr val="7B9AB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97280"/>
            <a:ext cx="4069080" cy="54864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2070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Executor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73168" y="17190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JVM processes that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the actual computation.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2395728"/>
            <a:ext cx="73152" cy="201168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assigned tasks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00600" y="2779776"/>
            <a:ext cx="73152" cy="201168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761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computations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00600" y="3163824"/>
            <a:ext cx="73152" cy="201168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145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cached data (RDD/DF)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800600" y="3547872"/>
            <a:ext cx="73152" cy="201168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529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results to Driver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754880" y="4069080"/>
            <a:ext cx="1188720" cy="438912"/>
          </a:xfrm>
          <a:prstGeom prst="rect">
            <a:avLst/>
          </a:prstGeom>
          <a:solidFill>
            <a:srgbClr val="1C3352"/>
          </a:solidFill>
          <a:ln w="12700">
            <a:solidFill>
              <a:srgbClr val="1C33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069080"/>
            <a:ext cx="11887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at app start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62472" y="4069080"/>
            <a:ext cx="1188720" cy="438912"/>
          </a:xfrm>
          <a:prstGeom prst="rect">
            <a:avLst/>
          </a:prstGeom>
          <a:solidFill>
            <a:srgbClr val="1C3352"/>
          </a:solidFill>
          <a:ln w="12700">
            <a:solidFill>
              <a:srgbClr val="1C33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62472" y="4069080"/>
            <a:ext cx="11887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during execution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70064" y="4069080"/>
            <a:ext cx="1188720" cy="438912"/>
          </a:xfrm>
          <a:prstGeom prst="rect">
            <a:avLst/>
          </a:prstGeom>
          <a:solidFill>
            <a:srgbClr val="1C3352"/>
          </a:solidFill>
          <a:ln w="12700">
            <a:solidFill>
              <a:srgbClr val="1C33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70064" y="4069080"/>
            <a:ext cx="11887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Destroyed on app end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463600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088636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Tasks &amp; Partitions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115568"/>
            <a:ext cx="6400800" cy="914400"/>
          </a:xfrm>
          <a:prstGeom prst="rect">
            <a:avLst/>
          </a:prstGeom>
          <a:solidFill>
            <a:srgbClr val="1A1400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111556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Golden Rule  ·  1 Partition = 1 Task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1480" y="2240280"/>
            <a:ext cx="4069080" cy="2514600"/>
          </a:xfrm>
          <a:prstGeom prst="rect">
            <a:avLst/>
          </a:prstGeom>
          <a:solidFill>
            <a:srgbClr val="132338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331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76148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chunk of distributed data stored across worker nodes.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401568"/>
            <a:ext cx="749808" cy="566928"/>
          </a:xfrm>
          <a:prstGeom prst="rect">
            <a:avLst/>
          </a:prstGeom>
          <a:solidFill>
            <a:srgbClr val="1C335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0156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508760" y="3401568"/>
            <a:ext cx="749808" cy="566928"/>
          </a:xfrm>
          <a:prstGeom prst="rect">
            <a:avLst/>
          </a:prstGeom>
          <a:solidFill>
            <a:srgbClr val="1C335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340156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23160" y="3401568"/>
            <a:ext cx="749808" cy="566928"/>
          </a:xfrm>
          <a:prstGeom prst="rect">
            <a:avLst/>
          </a:prstGeom>
          <a:solidFill>
            <a:srgbClr val="1C335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340156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37560" y="3401568"/>
            <a:ext cx="749808" cy="566928"/>
          </a:xfrm>
          <a:prstGeom prst="rect">
            <a:avLst/>
          </a:prstGeom>
          <a:solidFill>
            <a:srgbClr val="1C335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40156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51960" y="3401568"/>
            <a:ext cx="18288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3401568"/>
            <a:ext cx="274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3440" y="2240280"/>
            <a:ext cx="4069080" cy="2514600"/>
          </a:xfrm>
          <a:prstGeom prst="rect">
            <a:avLst/>
          </a:prstGeom>
          <a:solidFill>
            <a:srgbClr val="0E1E35"/>
          </a:solidFill>
          <a:ln w="12700">
            <a:solidFill>
              <a:srgbClr val="7B9AB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2331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276148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unit of execution in Spark — one task processes one partition.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3401568"/>
            <a:ext cx="749808" cy="566928"/>
          </a:xfrm>
          <a:prstGeom prst="rect">
            <a:avLst/>
          </a:prstGeom>
          <a:solidFill>
            <a:srgbClr val="1C3352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40156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69280" y="3401568"/>
            <a:ext cx="749808" cy="566928"/>
          </a:xfrm>
          <a:prstGeom prst="rect">
            <a:avLst/>
          </a:prstGeom>
          <a:solidFill>
            <a:srgbClr val="1C3352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340156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83680" y="3401568"/>
            <a:ext cx="749808" cy="566928"/>
          </a:xfrm>
          <a:prstGeom prst="rect">
            <a:avLst/>
          </a:prstGeom>
          <a:solidFill>
            <a:srgbClr val="1C3352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40156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98080" y="3401568"/>
            <a:ext cx="749808" cy="566928"/>
          </a:xfrm>
          <a:prstGeom prst="rect">
            <a:avLst/>
          </a:prstGeom>
          <a:solidFill>
            <a:srgbClr val="1C3352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3401568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412480" y="3401568"/>
            <a:ext cx="18288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3401568"/>
            <a:ext cx="274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100 partitions → Spark creates 100 parallel tasks distributed across executors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463600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088636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Execution Flow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15568"/>
            <a:ext cx="4160520" cy="3611880"/>
          </a:xfrm>
          <a:prstGeom prst="rect">
            <a:avLst/>
          </a:prstGeom>
          <a:solidFill>
            <a:srgbClr val="081015"/>
          </a:solidFill>
          <a:ln w="12700">
            <a:solidFill>
              <a:srgbClr val="2A4A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Sample PySpark 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1572768"/>
            <a:ext cx="3886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 import SparkSession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 = SparkSession.builder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.appName('Sales')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.getOrCreate()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spark.read.csv('sales.csv')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 = df.filter(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df.amount &gt; 1000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filtered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.groupBy('region')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.sum()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result.show()  # ← ACTION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15568"/>
            <a:ext cx="3840480" cy="594360"/>
          </a:xfrm>
          <a:prstGeom prst="rect">
            <a:avLst/>
          </a:prstGeom>
          <a:solidFill>
            <a:srgbClr val="132338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1887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31536" y="1207008"/>
            <a:ext cx="27432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2976" y="120700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Created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1709928"/>
            <a:ext cx="36576" cy="137160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828800"/>
            <a:ext cx="3840480" cy="594360"/>
          </a:xfrm>
          <a:prstGeom prst="rect">
            <a:avLst/>
          </a:prstGeom>
          <a:solidFill>
            <a:srgbClr val="132338"/>
          </a:solidFill>
          <a:ln w="19050">
            <a:solidFill>
              <a:srgbClr val="5BA4C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9019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31536" y="1920240"/>
            <a:ext cx="27432" cy="41148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2976" y="1920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 → DataFrame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21040" y="2423160"/>
            <a:ext cx="36576" cy="137160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42032"/>
            <a:ext cx="3840480" cy="594360"/>
          </a:xfrm>
          <a:prstGeom prst="rect">
            <a:avLst/>
          </a:prstGeom>
          <a:solidFill>
            <a:srgbClr val="132338"/>
          </a:solidFill>
          <a:ln w="19050">
            <a:solidFill>
              <a:srgbClr val="7EC8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26151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31536" y="2633472"/>
            <a:ext cx="27432" cy="411480"/>
          </a:xfrm>
          <a:prstGeom prst="rect">
            <a:avLst/>
          </a:prstGeom>
          <a:solidFill>
            <a:srgbClr val="7EC8A0"/>
          </a:solidFill>
          <a:ln w="12700">
            <a:solidFill>
              <a:srgbClr val="7EC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26334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 → Transformation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321040" y="3136392"/>
            <a:ext cx="36576" cy="137160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255264"/>
            <a:ext cx="3840480" cy="594360"/>
          </a:xfrm>
          <a:prstGeom prst="rect">
            <a:avLst/>
          </a:prstGeom>
          <a:solidFill>
            <a:srgbClr val="132338"/>
          </a:solidFill>
          <a:ln w="19050">
            <a:solidFill>
              <a:srgbClr val="D483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33284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8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31536" y="3346704"/>
            <a:ext cx="27432" cy="411480"/>
          </a:xfrm>
          <a:prstGeom prst="rect">
            <a:avLst/>
          </a:prstGeom>
          <a:solidFill>
            <a:srgbClr val="D4835A"/>
          </a:solidFill>
          <a:ln w="12700">
            <a:solidFill>
              <a:srgbClr val="D483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22976" y="334670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groupBy().sum() → Shuffle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321040" y="3849624"/>
            <a:ext cx="36576" cy="137160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968496"/>
            <a:ext cx="3840480" cy="594360"/>
          </a:xfrm>
          <a:prstGeom prst="rect">
            <a:avLst/>
          </a:prstGeom>
          <a:solidFill>
            <a:srgbClr val="132338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404164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31536" y="4059936"/>
            <a:ext cx="27432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22976" y="405993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show() → Action Triggered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463600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088636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Catalyst Optimizer &amp; DAG Scheduler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15568"/>
            <a:ext cx="4069080" cy="3611880"/>
          </a:xfrm>
          <a:prstGeom prst="rect">
            <a:avLst/>
          </a:prstGeom>
          <a:solidFill>
            <a:srgbClr val="132338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115568"/>
            <a:ext cx="40690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2529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Catalyst Optimizer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query execution efficiency before tasks reach executors.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267712"/>
            <a:ext cx="347472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6771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Pushdown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286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early near data source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2743200"/>
            <a:ext cx="347472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4320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Pruning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27614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unused columns early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3218688"/>
            <a:ext cx="347472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1868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3236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Optimization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32369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 joins intelligently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4360" y="3694176"/>
            <a:ext cx="347472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694176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3712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Folding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37124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Pre-calculates fixed expressions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" y="4169664"/>
            <a:ext cx="347472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169664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4187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Reordering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108960" y="41879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cheap filters first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1115568"/>
            <a:ext cx="4069080" cy="3611880"/>
          </a:xfrm>
          <a:prstGeom prst="rect">
            <a:avLst/>
          </a:prstGeom>
          <a:solidFill>
            <a:srgbClr val="0E1E35"/>
          </a:solidFill>
          <a:ln w="12700">
            <a:solidFill>
              <a:srgbClr val="7B9AB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115568"/>
            <a:ext cx="4069080" cy="54864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22529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 Scheduler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773168" y="16916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logical plan into execution stages, handling shuffle boundaries.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03520" y="2304288"/>
            <a:ext cx="2286000" cy="329184"/>
          </a:xfrm>
          <a:prstGeom prst="rect">
            <a:avLst/>
          </a:prstGeom>
          <a:solidFill>
            <a:srgbClr val="1C3352"/>
          </a:solidFill>
          <a:ln w="12700">
            <a:solidFill>
              <a:srgbClr val="7B9AB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303520" y="23042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19088" y="2633472"/>
            <a:ext cx="36576" cy="91440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0" y="2715768"/>
            <a:ext cx="2286000" cy="329184"/>
          </a:xfrm>
          <a:prstGeom prst="rect">
            <a:avLst/>
          </a:prstGeom>
          <a:solidFill>
            <a:srgbClr val="132338"/>
          </a:solidFill>
          <a:ln w="12700">
            <a:solidFill>
              <a:srgbClr val="7B9AB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303520" y="27157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19088" y="3044952"/>
            <a:ext cx="36576" cy="91440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0" y="3127248"/>
            <a:ext cx="2286000" cy="329184"/>
          </a:xfrm>
          <a:prstGeom prst="rect">
            <a:avLst/>
          </a:prstGeom>
          <a:solidFill>
            <a:srgbClr val="1C3352"/>
          </a:solidFill>
          <a:ln w="12700">
            <a:solidFill>
              <a:srgbClr val="7B9AB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303520" y="31272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19088" y="3456432"/>
            <a:ext cx="36576" cy="91440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03520" y="3538728"/>
            <a:ext cx="2286000" cy="329184"/>
          </a:xfrm>
          <a:prstGeom prst="rect">
            <a:avLst/>
          </a:prstGeom>
          <a:solidFill>
            <a:srgbClr val="132338"/>
          </a:solidFill>
          <a:ln w="12700">
            <a:solidFill>
              <a:srgbClr val="7B9AB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303520" y="35387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19088" y="3867912"/>
            <a:ext cx="36576" cy="91440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03520" y="3950208"/>
            <a:ext cx="2286000" cy="329184"/>
          </a:xfrm>
          <a:prstGeom prst="rect">
            <a:avLst/>
          </a:prstGeom>
          <a:solidFill>
            <a:srgbClr val="1C3352"/>
          </a:solidFill>
          <a:ln w="12700">
            <a:solidFill>
              <a:srgbClr val="7B9AB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303520" y="3950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19088" y="4279392"/>
            <a:ext cx="36576" cy="91440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03520" y="4361688"/>
            <a:ext cx="2286000" cy="329184"/>
          </a:xfrm>
          <a:prstGeom prst="rect">
            <a:avLst/>
          </a:prstGeom>
          <a:solidFill>
            <a:srgbClr val="132338"/>
          </a:solidFill>
          <a:ln w="12700">
            <a:solidFill>
              <a:srgbClr val="7B9AB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303520" y="43616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818120" y="2304288"/>
            <a:ext cx="777240" cy="1234440"/>
          </a:xfrm>
          <a:prstGeom prst="rect">
            <a:avLst/>
          </a:prstGeom>
          <a:solidFill>
            <a:srgbClr val="1C2E40"/>
          </a:solidFill>
          <a:ln w="12700">
            <a:solidFill>
              <a:srgbClr val="3A5F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18120" y="2304288"/>
            <a:ext cx="777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818120" y="3657600"/>
            <a:ext cx="777240" cy="1069848"/>
          </a:xfrm>
          <a:prstGeom prst="rect">
            <a:avLst/>
          </a:prstGeom>
          <a:solidFill>
            <a:srgbClr val="1C2E40"/>
          </a:solidFill>
          <a:ln w="12700">
            <a:solidFill>
              <a:srgbClr val="3A5F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18120" y="3657600"/>
            <a:ext cx="77724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A4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463600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088636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Shuffle Operation &amp; Lazy Evaluation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15568"/>
            <a:ext cx="4069080" cy="3611880"/>
          </a:xfrm>
          <a:prstGeom prst="rect">
            <a:avLst/>
          </a:prstGeom>
          <a:solidFill>
            <a:srgbClr val="1A0808"/>
          </a:solidFill>
          <a:ln w="19050">
            <a:solidFill>
              <a:srgbClr val="8B3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20700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Shuffle — The Expensive Operation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occurs when data physically moves between executors across the network.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That Cause Shuffle: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706624"/>
            <a:ext cx="1737360" cy="384048"/>
          </a:xfrm>
          <a:prstGeom prst="rect">
            <a:avLst/>
          </a:prstGeom>
          <a:solidFill>
            <a:srgbClr val="2A0F0F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0662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groupBy()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0" y="2706624"/>
            <a:ext cx="1737360" cy="384048"/>
          </a:xfrm>
          <a:prstGeom prst="rect">
            <a:avLst/>
          </a:prstGeom>
          <a:solidFill>
            <a:srgbClr val="2A0F0F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70662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3209544"/>
            <a:ext cx="1737360" cy="384048"/>
          </a:xfrm>
          <a:prstGeom prst="rect">
            <a:avLst/>
          </a:prstGeom>
          <a:solidFill>
            <a:srgbClr val="2A0F0F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095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distinct()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0" y="3209544"/>
            <a:ext cx="1737360" cy="384048"/>
          </a:xfrm>
          <a:prstGeom prst="rect">
            <a:avLst/>
          </a:prstGeom>
          <a:solidFill>
            <a:srgbClr val="2A0F0F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32095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repartition()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730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Expensive: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transfer overhead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2519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Disk I/O &amp; serialization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4805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Increased execution 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115568"/>
            <a:ext cx="4069080" cy="3611880"/>
          </a:xfrm>
          <a:prstGeom prst="rect">
            <a:avLst/>
          </a:prstGeom>
          <a:solidFill>
            <a:srgbClr val="071A10"/>
          </a:solidFill>
          <a:ln w="19050">
            <a:solidFill>
              <a:srgbClr val="2A6B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20700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Lazy Evaluation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73168" y="1737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builds the full execution plan before processing a single byte of data.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5488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642616"/>
            <a:ext cx="1188720" cy="457200"/>
          </a:xfrm>
          <a:prstGeom prst="rect">
            <a:avLst/>
          </a:prstGeom>
          <a:solidFill>
            <a:srgbClr val="071A10"/>
          </a:solidFill>
          <a:ln w="12700">
            <a:solidFill>
              <a:srgbClr val="2A6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64261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53328" y="2642616"/>
            <a:ext cx="1188720" cy="457200"/>
          </a:xfrm>
          <a:prstGeom prst="rect">
            <a:avLst/>
          </a:prstGeom>
          <a:solidFill>
            <a:srgbClr val="071A10"/>
          </a:solidFill>
          <a:ln w="12700">
            <a:solidFill>
              <a:srgbClr val="2A6B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53328" y="264261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select()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351776" y="2642616"/>
            <a:ext cx="1188720" cy="457200"/>
          </a:xfrm>
          <a:prstGeom prst="rect">
            <a:avLst/>
          </a:prstGeom>
          <a:solidFill>
            <a:srgbClr val="071A10"/>
          </a:solidFill>
          <a:ln w="12700">
            <a:solidFill>
              <a:srgbClr val="2A6B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51776" y="264261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groupBy()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5488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968496"/>
            <a:ext cx="1188720" cy="457200"/>
          </a:xfrm>
          <a:prstGeom prst="rect">
            <a:avLst/>
          </a:prstGeom>
          <a:solidFill>
            <a:srgbClr val="1A11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96849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show()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53328" y="3968496"/>
            <a:ext cx="1188720" cy="457200"/>
          </a:xfrm>
          <a:prstGeom prst="rect">
            <a:avLst/>
          </a:prstGeom>
          <a:solidFill>
            <a:srgbClr val="1A11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53328" y="396849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351776" y="3968496"/>
            <a:ext cx="1188720" cy="457200"/>
          </a:xfrm>
          <a:prstGeom prst="rect">
            <a:avLst/>
          </a:prstGeom>
          <a:solidFill>
            <a:srgbClr val="1A11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51776" y="396849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collect()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754880" y="4407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Benefit: Spark optimizes the entire plan before execution begins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463600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088636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Spark Memory Architecture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JVM memory is divided into two primary regions enabling flexible, high-performance computation.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8321040" cy="146304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627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B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 MEMORY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993392"/>
            <a:ext cx="4754880" cy="822960"/>
          </a:xfrm>
          <a:prstGeom prst="rect">
            <a:avLst/>
          </a:prstGeom>
          <a:solidFill>
            <a:srgbClr val="1A1200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9339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MEMORY  ~60%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76672" y="1993392"/>
            <a:ext cx="3154680" cy="822960"/>
          </a:xfrm>
          <a:prstGeom prst="rect">
            <a:avLst/>
          </a:prstGeom>
          <a:solidFill>
            <a:srgbClr val="071A10"/>
          </a:solidFill>
          <a:ln w="25400">
            <a:solidFill>
              <a:srgbClr val="5CB8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199339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MEMORY  ~40%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4069080" cy="1810512"/>
          </a:xfrm>
          <a:prstGeom prst="rect">
            <a:avLst/>
          </a:prstGeom>
          <a:solidFill>
            <a:srgbClr val="132338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63240"/>
            <a:ext cx="50292" cy="1810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Memory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6072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Sorting &amp; aggregation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" y="3895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Hash joins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" y="4197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Shuffle writes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072" y="4498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Temporary buffers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063240"/>
            <a:ext cx="4069080" cy="1810512"/>
          </a:xfrm>
          <a:prstGeom prst="rect">
            <a:avLst/>
          </a:prstGeom>
          <a:solidFill>
            <a:srgbClr val="132338"/>
          </a:solidFill>
          <a:ln w="12700">
            <a:solidFill>
              <a:srgbClr val="5CB8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63240"/>
            <a:ext cx="50292" cy="181051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B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Memory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28032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cache() — RDD caching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3895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persist() — DF storage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4197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Broadcast variables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4498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Unrolling buffers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463600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088636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Spark vs Hadoop MapReduce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97280"/>
            <a:ext cx="8321040" cy="530352"/>
          </a:xfrm>
          <a:prstGeom prst="rect">
            <a:avLst/>
          </a:prstGeom>
          <a:solidFill>
            <a:srgbClr val="1A120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097280"/>
            <a:ext cx="3200400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03320" y="109728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109728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MapReduce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1664208"/>
            <a:ext cx="8321040" cy="50292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1664208"/>
            <a:ext cx="32004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94760" y="1755648"/>
            <a:ext cx="2286000" cy="320040"/>
          </a:xfrm>
          <a:prstGeom prst="rect">
            <a:avLst/>
          </a:prstGeom>
          <a:solidFill>
            <a:srgbClr val="1A12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755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6642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Disk-Based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2194560"/>
            <a:ext cx="8321040" cy="502920"/>
          </a:xfrm>
          <a:prstGeom prst="rect">
            <a:avLst/>
          </a:prstGeom>
          <a:solidFill>
            <a:srgbClr val="162844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94760" y="2286000"/>
            <a:ext cx="2286000" cy="320040"/>
          </a:xfrm>
          <a:prstGeom prst="rect">
            <a:avLst/>
          </a:prstGeom>
          <a:solidFill>
            <a:srgbClr val="1A12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 Faster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194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2724912"/>
            <a:ext cx="8321040" cy="50292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2724912"/>
            <a:ext cx="32004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Engine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94760" y="2816352"/>
            <a:ext cx="2286000" cy="320040"/>
          </a:xfrm>
          <a:prstGeom prst="rect">
            <a:avLst/>
          </a:prstGeom>
          <a:solidFill>
            <a:srgbClr val="1A12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2816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27249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3255264"/>
            <a:ext cx="8321040" cy="502920"/>
          </a:xfrm>
          <a:prstGeom prst="rect">
            <a:avLst/>
          </a:prstGeom>
          <a:solidFill>
            <a:srgbClr val="162844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255264"/>
            <a:ext cx="32004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94760" y="3346704"/>
            <a:ext cx="2286000" cy="320040"/>
          </a:xfrm>
          <a:prstGeom prst="rect">
            <a:avLst/>
          </a:prstGeom>
          <a:solidFill>
            <a:srgbClr val="1A12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33467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2552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1480" y="3785616"/>
            <a:ext cx="8321040" cy="50292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3785616"/>
            <a:ext cx="32004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Workloads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794760" y="3877056"/>
            <a:ext cx="2286000" cy="320040"/>
          </a:xfrm>
          <a:prstGeom prst="rect">
            <a:avLst/>
          </a:prstGeom>
          <a:solidFill>
            <a:srgbClr val="1A12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38770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37856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Efficient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" y="4315968"/>
            <a:ext cx="8321040" cy="502920"/>
          </a:xfrm>
          <a:prstGeom prst="rect">
            <a:avLst/>
          </a:prstGeom>
          <a:solidFill>
            <a:srgbClr val="162844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4315968"/>
            <a:ext cx="32004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794760" y="4407408"/>
            <a:ext cx="2286000" cy="320040"/>
          </a:xfrm>
          <a:prstGeom prst="rect">
            <a:avLst/>
          </a:prstGeom>
          <a:solidFill>
            <a:srgbClr val="1A12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4407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(RDD)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72200" y="4315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(HDFS)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463600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088636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Applications of Spark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15568"/>
            <a:ext cx="2670048" cy="1371600"/>
          </a:xfrm>
          <a:prstGeom prst="rect">
            <a:avLst/>
          </a:prstGeom>
          <a:solidFill>
            <a:srgbClr val="132338"/>
          </a:solidFill>
          <a:ln w="19050">
            <a:solidFill>
              <a:srgbClr val="E5091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115568"/>
            <a:ext cx="2670048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2435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Netflix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" y="17099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64408" y="1115568"/>
            <a:ext cx="2670048" cy="1371600"/>
          </a:xfrm>
          <a:prstGeom prst="rect">
            <a:avLst/>
          </a:prstGeom>
          <a:solidFill>
            <a:srgbClr val="132338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115568"/>
            <a:ext cx="2670048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2435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74136" y="17099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&amp; Surge Analytics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17336" y="1115568"/>
            <a:ext cx="2670048" cy="1371600"/>
          </a:xfrm>
          <a:prstGeom prst="rect">
            <a:avLst/>
          </a:prstGeom>
          <a:solidFill>
            <a:srgbClr val="132338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17336" y="1115568"/>
            <a:ext cx="2670048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2435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27064" y="17099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 Analysis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2688336"/>
            <a:ext cx="2670048" cy="1371600"/>
          </a:xfrm>
          <a:prstGeom prst="rect">
            <a:avLst/>
          </a:prstGeom>
          <a:solidFill>
            <a:srgbClr val="132338"/>
          </a:solidFill>
          <a:ln w="19050">
            <a:solidFill>
              <a:srgbClr val="5BA4C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688336"/>
            <a:ext cx="2670048" cy="54864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28163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1208" y="328269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64408" y="2688336"/>
            <a:ext cx="2670048" cy="1371600"/>
          </a:xfrm>
          <a:prstGeom prst="rect">
            <a:avLst/>
          </a:prstGeom>
          <a:solidFill>
            <a:srgbClr val="132338"/>
          </a:solidFill>
          <a:ln w="19050">
            <a:solidFill>
              <a:srgbClr val="5CB8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688336"/>
            <a:ext cx="2670048" cy="5486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28163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74136" y="328269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Analytics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" y="4297680"/>
            <a:ext cx="8321040" cy="566928"/>
          </a:xfrm>
          <a:prstGeom prst="rect">
            <a:avLst/>
          </a:prstGeom>
          <a:solidFill>
            <a:srgbClr val="1A1200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42976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Scale:  Thousands of Executors  ·  Millions of Tasks  ·  Petabytes of Data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4636008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088636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Summary — Full Pipeline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15568"/>
            <a:ext cx="2670048" cy="91440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188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81528" y="1527048"/>
            <a:ext cx="182880" cy="73152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115568"/>
            <a:ext cx="2670048" cy="91440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55848" y="1188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74136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Program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34456" y="1527048"/>
            <a:ext cx="182880" cy="73152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7336" y="1115568"/>
            <a:ext cx="2670048" cy="91440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08776" y="1188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27064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Plan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15784" y="2029968"/>
            <a:ext cx="73152" cy="274320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304288"/>
            <a:ext cx="2670048" cy="91440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2377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Optimizer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81528" y="2715768"/>
            <a:ext cx="182880" cy="73152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2304288"/>
            <a:ext cx="2670048" cy="91440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55848" y="2377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74136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Scheduler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34456" y="2715768"/>
            <a:ext cx="182880" cy="73152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17336" y="2304288"/>
            <a:ext cx="2670048" cy="91440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08776" y="2377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27064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15784" y="3218688"/>
            <a:ext cx="73152" cy="274320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493008"/>
            <a:ext cx="2670048" cy="91440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3566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" y="3931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081528" y="3904488"/>
            <a:ext cx="182880" cy="73152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4408" y="3493008"/>
            <a:ext cx="2670048" cy="91440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55848" y="3566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74136" y="3931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on Partitions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934456" y="3904488"/>
            <a:ext cx="182880" cy="73152"/>
          </a:xfrm>
          <a:prstGeom prst="rect">
            <a:avLst/>
          </a:prstGeom>
          <a:solidFill>
            <a:srgbClr val="7B9AB5"/>
          </a:solidFill>
          <a:ln w="12700">
            <a:solidFill>
              <a:srgbClr val="7B9A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17336" y="3493008"/>
            <a:ext cx="2670048" cy="914400"/>
          </a:xfrm>
          <a:prstGeom prst="rect">
            <a:avLst/>
          </a:prstGeom>
          <a:solidFill>
            <a:srgbClr val="1A1200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08776" y="3566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27064" y="3931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45720" cy="5143500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Now Know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8229600" cy="47548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0078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70432" y="1755648"/>
            <a:ext cx="27432" cy="3017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17373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is a distributed computation engine built for scale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203704"/>
            <a:ext cx="8229600" cy="475488"/>
          </a:xfrm>
          <a:prstGeom prst="rect">
            <a:avLst/>
          </a:prstGeom>
          <a:solidFill>
            <a:srgbClr val="162844"/>
          </a:solidFill>
          <a:ln w="12700">
            <a:solidFill>
              <a:srgbClr val="1C33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4028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70432" y="2295144"/>
            <a:ext cx="27432" cy="3017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227685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coordinates the entire Spark application lifecycle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8229600" cy="47548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77977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70432" y="2834640"/>
            <a:ext cx="27432" cy="3017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28163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 perform distributed computations in parallel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282696"/>
            <a:ext cx="8229600" cy="475488"/>
          </a:xfrm>
          <a:prstGeom prst="rect">
            <a:avLst/>
          </a:prstGeom>
          <a:solidFill>
            <a:srgbClr val="162844"/>
          </a:solidFill>
          <a:ln w="12700">
            <a:solidFill>
              <a:srgbClr val="1C33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31927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70432" y="3374136"/>
            <a:ext cx="27432" cy="3017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33558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enables optimized, stage-based execution planning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22192"/>
            <a:ext cx="8229600" cy="47548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85876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170432" y="3913632"/>
            <a:ext cx="27432" cy="3017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8448" y="389534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 improves performance across the whole job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4361688"/>
            <a:ext cx="8229600" cy="475488"/>
          </a:xfrm>
          <a:prstGeom prst="rect">
            <a:avLst/>
          </a:prstGeom>
          <a:solidFill>
            <a:srgbClr val="162844"/>
          </a:solidFill>
          <a:ln w="12700">
            <a:solidFill>
              <a:srgbClr val="1C33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39826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170432" y="4453128"/>
            <a:ext cx="27432" cy="3017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44348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processing makes Spark 100× faster than Hadoop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Spark Architecture</dc:title>
  <dc:subject>PptxGenJS Presentation</dc:subject>
  <dc:creator>Vedhika x Master</dc:creator>
  <cp:lastModifiedBy>Vedhika x Master</cp:lastModifiedBy>
  <cp:revision>1</cp:revision>
  <dcterms:created xsi:type="dcterms:W3CDTF">2026-05-15T13:55:34Z</dcterms:created>
  <dcterms:modified xsi:type="dcterms:W3CDTF">2026-05-15T13:55:34Z</dcterms:modified>
</cp:coreProperties>
</file>